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38f085738d4e89" /><Relationship Type="http://schemas.openxmlformats.org/officeDocument/2006/relationships/extended-properties" Target="/docProps/app.xml" Id="R702ad0764a304b4b" /><Relationship Type="http://schemas.openxmlformats.org/officeDocument/2006/relationships/officeDocument" Target="/ppt/presentation.xml" Id="Re46a26c76eb24d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0988e99c204dc7"/>
  </p:sldMasterIdLst>
  <p:notesMasterIdLst>
    <p:notesMasterId xmlns:r="http://schemas.openxmlformats.org/officeDocument/2006/relationships" r:id="R129b12f502ac4857"/>
  </p:notesMasterIdLst>
  <p:sldIdLst>
    <p:sldId xmlns:r="http://schemas.openxmlformats.org/officeDocument/2006/relationships" id="256" r:id="R7339e3e623594dc9"/>
    <p:sldId xmlns:r="http://schemas.openxmlformats.org/officeDocument/2006/relationships" id="257" r:id="R676471bb8c1842a3"/>
    <p:sldId xmlns:r="http://schemas.openxmlformats.org/officeDocument/2006/relationships" id="258" r:id="R9c1fd1ab56874a64"/>
    <p:sldId xmlns:r="http://schemas.openxmlformats.org/officeDocument/2006/relationships" id="259" r:id="R6bd889f040f14743"/>
    <p:sldId xmlns:r="http://schemas.openxmlformats.org/officeDocument/2006/relationships" id="260" r:id="Ra71920bc9e204f9a"/>
    <p:sldId xmlns:r="http://schemas.openxmlformats.org/officeDocument/2006/relationships" id="261" r:id="Re5afe723a3a44a6d"/>
    <p:sldId xmlns:r="http://schemas.openxmlformats.org/officeDocument/2006/relationships" id="262" r:id="Rc755b302abdc4300"/>
    <p:sldId xmlns:r="http://schemas.openxmlformats.org/officeDocument/2006/relationships" id="263" r:id="R45add3260c00450c"/>
    <p:sldId xmlns:r="http://schemas.openxmlformats.org/officeDocument/2006/relationships" id="264" r:id="Rb904d7d5363747ac"/>
    <p:sldId xmlns:r="http://schemas.openxmlformats.org/officeDocument/2006/relationships" id="265" r:id="R126a088ec3524a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ba2cf497934647" /><Relationship Type="http://schemas.openxmlformats.org/officeDocument/2006/relationships/slideMaster" Target="/ppt/slideMasters/slideMaster1.xml" Id="R180988e99c204dc7" /><Relationship Type="http://schemas.openxmlformats.org/officeDocument/2006/relationships/notesMaster" Target="/ppt/notesMasters/notesMaster1.xml" Id="R129b12f502ac4857" /><Relationship Type="http://schemas.openxmlformats.org/officeDocument/2006/relationships/presProps" Target="/ppt/presProps.xml" Id="R3c29e17d6b7a4310" /><Relationship Type="http://schemas.openxmlformats.org/officeDocument/2006/relationships/tableStyles" Target="/ppt/tableStyles.xml" Id="Rdff48cab6e874037" /><Relationship Type="http://schemas.openxmlformats.org/officeDocument/2006/relationships/slide" Target="/ppt/slides/slide1.xml" Id="R7339e3e623594dc9" /><Relationship Type="http://schemas.openxmlformats.org/officeDocument/2006/relationships/slide" Target="/ppt/slides/slide2.xml" Id="R676471bb8c1842a3" /><Relationship Type="http://schemas.openxmlformats.org/officeDocument/2006/relationships/slide" Target="/ppt/slides/slide3.xml" Id="R9c1fd1ab56874a64" /><Relationship Type="http://schemas.openxmlformats.org/officeDocument/2006/relationships/slide" Target="/ppt/slides/slide4.xml" Id="R6bd889f040f14743" /><Relationship Type="http://schemas.openxmlformats.org/officeDocument/2006/relationships/slide" Target="/ppt/slides/slide5.xml" Id="Ra71920bc9e204f9a" /><Relationship Type="http://schemas.openxmlformats.org/officeDocument/2006/relationships/slide" Target="/ppt/slides/slide6.xml" Id="Re5afe723a3a44a6d" /><Relationship Type="http://schemas.openxmlformats.org/officeDocument/2006/relationships/slide" Target="/ppt/slides/slide7.xml" Id="Rc755b302abdc4300" /><Relationship Type="http://schemas.openxmlformats.org/officeDocument/2006/relationships/slide" Target="/ppt/slides/slide8.xml" Id="R45add3260c00450c" /><Relationship Type="http://schemas.openxmlformats.org/officeDocument/2006/relationships/slide" Target="/ppt/slides/slide9.xml" Id="Rb904d7d5363747ac" /><Relationship Type="http://schemas.openxmlformats.org/officeDocument/2006/relationships/slide" Target="/ppt/slides/slide10.xml" Id="R126a088ec3524a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3d02942d4646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45188b85d041ad" /><Relationship Type="http://schemas.openxmlformats.org/officeDocument/2006/relationships/notesMaster" Target="/ppt/notesMasters/notesMaster1.xml" Id="R115e3931bddb4d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41df26849149d0" /><Relationship Type="http://schemas.openxmlformats.org/officeDocument/2006/relationships/notesMaster" Target="/ppt/notesMasters/notesMaster1.xml" Id="Rdd16f4c7e7ab42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d2fbf85f734247" /><Relationship Type="http://schemas.openxmlformats.org/officeDocument/2006/relationships/notesMaster" Target="/ppt/notesMasters/notesMaster1.xml" Id="Ra1ab16d2d7534f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8e95f56475401e" /><Relationship Type="http://schemas.openxmlformats.org/officeDocument/2006/relationships/notesMaster" Target="/ppt/notesMasters/notesMaster1.xml" Id="R7193058bcd0b46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e3a7349f014e3e" /><Relationship Type="http://schemas.openxmlformats.org/officeDocument/2006/relationships/notesMaster" Target="/ppt/notesMasters/notesMaster1.xml" Id="R8fe43e40140942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26888a89e54165" /><Relationship Type="http://schemas.openxmlformats.org/officeDocument/2006/relationships/notesMaster" Target="/ppt/notesMasters/notesMaster1.xml" Id="R2065feec878b4b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01624f50984934" /><Relationship Type="http://schemas.openxmlformats.org/officeDocument/2006/relationships/notesMaster" Target="/ppt/notesMasters/notesMaster1.xml" Id="Rd5652d461fdc46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fd3ff2ca4e4ba8" /><Relationship Type="http://schemas.openxmlformats.org/officeDocument/2006/relationships/notesMaster" Target="/ppt/notesMasters/notesMaster1.xml" Id="Rab113bba453943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9a63d0d782439e" /><Relationship Type="http://schemas.openxmlformats.org/officeDocument/2006/relationships/notesMaster" Target="/ppt/notesMasters/notesMaster1.xml" Id="Rd858a2f94c9b40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6ad3d6e4214d96" /><Relationship Type="http://schemas.openxmlformats.org/officeDocument/2006/relationships/notesMaster" Target="/ppt/notesMasters/notesMaster1.xml" Id="Rb4eb6963a06445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Track: The Agent That Can Explain Why. Submission owner Xianxin Kuang. Development used coding-agent assistance. See docs/BUILD-DISCLOSURE.md for pre-existing components and boundaries.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is a design hypothesis for procurement and operations users. No customer interview or savings study is claimed. Fixture: data/synthetic.json.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deterministic verifier fixture, tests/test_workflow.py. Request 30 units, as-of 2026-10-22. 2026-10-26 capacity 15 and cannot_promise. 2026-10-28 capacity 55 and can_promise. These are synthetic scenario results, not a customer outcome.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supplytrace/adapters.py, verifier.py and web/app.js. A SHA-256 digest proves local record consistency, not source truth. Sequential source queries are not an atomic cross-source snapshot.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supplytrace/planner.py, review_assistance.py, assistant.py, verifier.py. CSV and procurement fixtures are separate data paths. A CSV review does not automatically modify the Zetaris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Zetaris official SQL/API reference: https://github.com/zetaris/getting-started/blob/main/docs/guides/zetaris-lightning-sql-commands.md . Meterless source: https://github.com/Meterless/Meterless/tree/1742dec56a66e58eef9dda2d2b865823758ca8cd/engines/hmem . NVIDIA acceleration observed via local llama.cpp Vulkan runtime and process identity. No Nemotron/NIM/CUDA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Implemented components, not a deployment diagram of a hosted service. Source: supplytrace/app.py, planner.py, adapters.py, verifier.py, memory.py and integrations/hmem.ts. The model selects the order of the allowed reads; application code constructs 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final slide requires an actual Egolite screenshot of the running product after live platform acceptance. A missing screenshot is a delivery blocker, not replaced with a synthetic interface.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Retained benchmark 6a8bf174-119d-4c2a-9cfc-c193126ad756. 500000 rows: parse 25.500s, analysis 92.094s, first export 55.156s, peak whole-service-tree RSS 228192256 bytes. One-key 250000 rows also completed. Initial full run later received HTTP 503 under rapid download interruption. Targeted follow-up verified 20 disconnects, handle count 409 to 417, and a separate restart recovered 150000 rows. This is shared-host evidence with uncontrolled OS cache, not production capacity.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work, not completed user research. Technical limits: local single-user scope, sequential platform reads, synthetic procurement fixtures, no autonomous procurement and no verified customer impact. Repository was created and verified as public on 2026-10-27.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b3999586534c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a52f6c4ae045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ec8c346b144d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9a19d573f546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3b2be78f344c9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820bda75cf49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ABB5B7-C4E6-40A9-B4A7-3AAFC2CD2C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280A8F4-9A6D-4995-B9AE-2F34ACE498A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228E565-99D0-4575-880A-8C26A57914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7B63FD-2D0A-475C-A96E-AE413079B7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9F02422-0C63-4CBC-B119-D001714C95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F8D4BF6-45FF-45B8-A611-7B94B940C7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87EC2ED-716C-415F-87E5-7FC8551150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4FA3055-8085-4384-84EE-F2A270CB17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6A6635-F508-4919-B3C7-621CC6CCE5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CD69CF-2096-4369-9396-3A631434DC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1739d2388d4a27" /><Relationship Type="http://schemas.openxmlformats.org/officeDocument/2006/relationships/slideLayout" Target="/ppt/slideLayouts/slideLayout1.xml" Id="R7fe2041e5ff54eac" /><Relationship Type="http://schemas.openxmlformats.org/officeDocument/2006/relationships/slideLayout" Target="/ppt/slideLayouts/slideLayout2.xml" Id="R0ecc715225e54ba0" /><Relationship Type="http://schemas.openxmlformats.org/officeDocument/2006/relationships/slideLayout" Target="/ppt/slideLayouts/slideLayout3.xml" Id="R881072cb57cd4993" /><Relationship Type="http://schemas.openxmlformats.org/officeDocument/2006/relationships/slideLayout" Target="/ppt/slideLayouts/slideLayout4.xml" Id="R02b976c8bbb84aa3" /><Relationship Type="http://schemas.openxmlformats.org/officeDocument/2006/relationships/slideLayout" Target="/ppt/slideLayouts/slideLayout5.xml" Id="R29a7fe417fb34ae8" /><Relationship Type="http://schemas.openxmlformats.org/officeDocument/2006/relationships/slideLayout" Target="/ppt/slideLayouts/slideLayout6.xml" Id="R37c5730d592e42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e2041e5ff54eac"/>
    <p:sldLayoutId xmlns:r="http://schemas.openxmlformats.org/officeDocument/2006/relationships" id="2147483650" r:id="R0ecc715225e54ba0"/>
    <p:sldLayoutId xmlns:r="http://schemas.openxmlformats.org/officeDocument/2006/relationships" id="2147483651" r:id="R881072cb57cd4993"/>
    <p:sldLayoutId xmlns:r="http://schemas.openxmlformats.org/officeDocument/2006/relationships" id="2147483652" r:id="R02b976c8bbb84aa3"/>
    <p:sldLayoutId xmlns:r="http://schemas.openxmlformats.org/officeDocument/2006/relationships" id="2147483653" r:id="R29a7fe417fb34ae8"/>
    <p:sldLayoutId xmlns:r="http://schemas.openxmlformats.org/officeDocument/2006/relationships" id="2147483654" r:id="R37c5730d592e42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1802b261864d95" /><Relationship Type="http://schemas.openxmlformats.org/officeDocument/2006/relationships/notesSlide" Target="/ppt/notesSlides/notesSlide1.xml" Id="Rbdd07221e00340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61741dc67642e6" /><Relationship Type="http://schemas.openxmlformats.org/officeDocument/2006/relationships/notesSlide" Target="/ppt/notesSlides/notesSlide2.xml" Id="Rf44ec0036b7c45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22984d2db940a1" /><Relationship Type="http://schemas.openxmlformats.org/officeDocument/2006/relationships/chart" Target="/ppt/slides/charts/chart1.xml" Id="Rcf94226f949547bb" /><Relationship Type="http://schemas.openxmlformats.org/officeDocument/2006/relationships/notesSlide" Target="/ppt/notesSlides/notesSlide3.xml" Id="Rc96259683f3345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419393aba54868" /><Relationship Type="http://schemas.openxmlformats.org/officeDocument/2006/relationships/notesSlide" Target="/ppt/notesSlides/notesSlide4.xml" Id="R7e0d7e933a7640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0719cade0c4769" /><Relationship Type="http://schemas.openxmlformats.org/officeDocument/2006/relationships/notesSlide" Target="/ppt/notesSlides/notesSlide5.xml" Id="R7f9739d89bfb4a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b30c2231d44a75" /><Relationship Type="http://schemas.openxmlformats.org/officeDocument/2006/relationships/notesSlide" Target="/ppt/notesSlides/notesSlide6.xml" Id="Rc182ece24ceb47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b5ef3b7e1147fe" /><Relationship Type="http://schemas.openxmlformats.org/officeDocument/2006/relationships/notesSlide" Target="/ppt/notesSlides/notesSlide7.xml" Id="R372568c5cd6f4a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c59337bbdd4f66" /><Relationship Type="http://schemas.openxmlformats.org/officeDocument/2006/relationships/image" Target="/ppt/media/image.png" Id="Rf9599783fbab4d4a" /><Relationship Type="http://schemas.openxmlformats.org/officeDocument/2006/relationships/notesSlide" Target="/ppt/notesSlides/notesSlide8.xml" Id="Rbc9b62f0085442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cb5936990a4177" /><Relationship Type="http://schemas.openxmlformats.org/officeDocument/2006/relationships/notesSlide" Target="/ppt/notesSlides/notesSlide9.xml" Id="R8f64b43fa3864d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4c7b1d2d394e1b" /><Relationship Type="http://schemas.openxmlformats.org/officeDocument/2006/relationships/notesSlide" Target="/ppt/notesSlides/notesSlide10.xml" Id="Rbd1a7cb09ce64e9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Promise capacity</c:v>
          </c:tx>
          <c:spPr>
            <a:solidFill xmlns:a="http://schemas.openxmlformats.org/drawingml/2006/main">
              <a:srgbClr val="2A7462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26 October</c:v>
                </c:pt>
                <c:pt idx="1">
                  <c:v>28 October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15</c:v>
                </c:pt>
                <c:pt idx="1">
                  <c:v>55</c:v>
                </c:pt>
              </c:numCache>
            </c:numRef>
          </c:val>
        </c:ser>
        <c:ser>
          <c:idx val="1"/>
          <c:order val="1"/>
          <c:tx>
            <c:v>Requested units</c:v>
          </c:tx>
          <c:spPr>
            <a:solidFill xmlns:a="http://schemas.openxmlformats.org/drawingml/2006/main">
              <a:srgbClr val="BD662E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26 October</c:v>
                </c:pt>
                <c:pt idx="1">
                  <c:v>28 October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30</c:v>
                </c:pt>
                <c:pt idx="1">
                  <c:v>30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D5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Arial"/>
              <a:ea typeface="Arial"/>
              <a:cs typeface="Arial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CA504-B0D2-40D4-9932-F8A2BA9A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SupplyTrace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7743A-730C-4A9F-9203-EA2026D0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C9E4B1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C9E4B1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C9E4B1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C9E4B1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C9E4B1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C9E4B1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C9E4B1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C9E4B1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C9E4B1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C9E4B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C9E4B1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C9E4B1"/>
                </a:solidFill>
                <a:latin typeface="Arial"/>
                <a:ea typeface="Arial"/>
                <a:cs typeface="Arial"/>
              </a:rPr>
              <a:t>Explainable purchasing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884C3-419E-49E5-A78F-3A28F8B8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Xianxin Kuang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C2BEC-3B0C-4A40-8C74-CDBB640E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482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C9E4B1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C9E4B1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C9E4B1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C9E4B1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C9E4B1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C9E4B1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C9E4B1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C9E4B1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C9E4B1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C9E4B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C9E4B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9E4B1"/>
                </a:solidFill>
                <a:latin typeface="Arial"/>
                <a:ea typeface="Arial"/>
                <a:cs typeface="Arial"/>
              </a:rPr>
              <a:t>Open Agent Hackathon 2026 · Track 02</a:t>
            </a:r>
          </a:p>
        </p:txBody>
      </p:sp>
    </p:spTree>
    <p:extLst>
      <p:ext uri="{BB962C8B-B14F-4D97-AF65-F5344CB8AC3E}">
        <p14:creationId xmlns:p14="http://schemas.microsoft.com/office/powerpoint/2010/main" val="698278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E3D07-717D-4F9C-835A-027F4D89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F2A"/>
                </a:solidFill>
                <a:latin typeface="Arial"/>
                <a:ea typeface="Arial"/>
                <a:cs typeface="Arial"/>
              </a:rPr>
              <a:t>The delivery-date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F6EE9-E50D-4988-B91B-526F8CA4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F2A"/>
                </a:solidFill>
                <a:latin typeface="Arial"/>
                <a:ea typeface="Arial"/>
                <a:cs typeface="Arial"/>
              </a:rPr>
              <a:t>A colleague asks for 30 units by Monday.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61675-1275-4CB0-A03C-F799DEB8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A7462"/>
                </a:solidFill>
                <a:latin typeface="Arial"/>
                <a:ea typeface="Arial"/>
                <a:cs typeface="Arial"/>
              </a:rPr>
              <a:t>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B6B21-6FA5-404D-B43D-8594535B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80 on hand includes 5 damaged units and a safety reserve.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60A16-97CA-4C05-9ACF-CEB5D201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098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A7462"/>
                </a:solidFill>
                <a:latin typeface="Arial"/>
                <a:ea typeface="Arial"/>
                <a:cs typeface="Arial"/>
              </a:rPr>
              <a:t>Commitments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0B212-E0A1-485E-88B7-8C177A78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76625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Existing orders already need part of the same stock.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884E0-ED6D-4868-837D-57316852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098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A7462"/>
                </a:solidFill>
                <a:latin typeface="Arial"/>
                <a:ea typeface="Arial"/>
                <a:cs typeface="Arial"/>
              </a:rPr>
              <a:t>Inbound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9E1C2-8B5B-4308-B16E-95CD87F3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76625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A shipment’s ETA differs from the date its units become usable.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4213B4-110B-48EB-8AFB-C13A42BE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45D"/>
                </a:solidFill>
                <a:latin typeface="Arial"/>
                <a:ea typeface="Arial"/>
                <a:cs typeface="Arial"/>
              </a:rPr>
              <a:t>A useful answer needs the source records, the date calculation and the reason for the decision.</a:t>
            </a:r>
          </a:p>
        </p:txBody>
      </p:sp>
    </p:spTree>
    <p:extLst>
      <p:ext uri="{BB962C8B-B14F-4D97-AF65-F5344CB8AC3E}">
        <p14:creationId xmlns:p14="http://schemas.microsoft.com/office/powerpoint/2010/main" val="12002306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896F4-CD5C-4039-9E1E-6276AD36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F2A"/>
                </a:solidFill>
                <a:latin typeface="Arial"/>
                <a:ea typeface="Arial"/>
                <a:cs typeface="Arial"/>
              </a:rPr>
              <a:t>A two-day change alters the answer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8570398B-D1BD-4847-8F4B-EFC822885816}"/>
              </a:ext>
            </a:extLst>
          </p:cNvPr>
          <p:cNvGraphicFramePr/>
          <p:nvPr/>
        </p:nvGraphicFramePr>
        <p:xfrm>
          <a:off xmlns:a="http://schemas.openxmlformats.org/drawingml/2006/main" x="619125" y="1809750"/>
          <a:ext xmlns:a="http://schemas.openxmlformats.org/drawingml/2006/main" cx="7048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94226f949547bb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AC415-7F2A-4DC4-B915-68691FC4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A7462"/>
                </a:solidFill>
                <a:latin typeface="Arial"/>
                <a:ea typeface="Arial"/>
                <a:cs typeface="Arial"/>
              </a:rPr>
              <a:t>60 incoming units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FEE57-B8BC-4194-9644-D303570D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ETA 25 Oct</a:t>
            </a:r>
          </a:p>
          <a:p xmlns:a="http://schemas.openxmlformats.org/drawingml/2006/main">
            <a: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+ 1 handling day</a:t>
            </a:r>
          </a:p>
          <a:p xmlns:a="http://schemas.openxmlformats.org/drawingml/2006/main">
            <a: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+ 1 buffer day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Usable 27 Oct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9B285-5829-4FBA-8355-B53070EA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45D"/>
                </a:solidFill>
                <a:latin typeface="Arial"/>
                <a:ea typeface="Arial"/>
                <a:cs typeface="Arial"/>
              </a:rPr>
              <a:t>Original synthetic fixture, snapshot 22 October 2026. Existing commitments remain protected.</a:t>
            </a:r>
          </a:p>
        </p:txBody>
      </p:sp>
    </p:spTree>
    <p:extLst>
      <p:ext uri="{BB962C8B-B14F-4D97-AF65-F5344CB8AC3E}">
        <p14:creationId xmlns:p14="http://schemas.microsoft.com/office/powerpoint/2010/main" val="20767637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880294-C372-4AFD-8970-6042E516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F2A"/>
                </a:solidFill>
                <a:latin typeface="Arial"/>
                <a:ea typeface="Arial"/>
                <a:cs typeface="Arial"/>
              </a:rPr>
              <a:t>Every conclusion has inspectable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5B90E-62CD-4D77-BE41-92434F99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A746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FE35F-780D-4068-A096-09E4FA07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71450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F2A"/>
                </a:solidFill>
                <a:latin typeface="Arial"/>
                <a:ea typeface="Arial"/>
                <a:cs typeface="Arial"/>
              </a:rPr>
              <a:t>Four approved reads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09D56-A3CE-4D93-84C6-7152BDBB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145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Inventory, orders, shipments and supplier terms.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2D078-C80F-46BE-A986-E985F849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A74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9661C-6DE4-4476-8B55-D7DA2A51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7146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F2A"/>
                </a:solidFill>
                <a:latin typeface="Arial"/>
                <a:ea typeface="Arial"/>
                <a:cs typeface="Arial"/>
              </a:rPr>
              <a:t>Source references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17F5E-413E-4EF3-8A2F-8144C9DB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14625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Table, query, row IDs, retrieval time and record hash.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1833A-6CD2-4653-8336-3C8643BC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A746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26CA5-FEED-4DCD-BA20-DFBB1C0C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147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F2A"/>
                </a:solidFill>
                <a:latin typeface="Arial"/>
                <a:ea typeface="Arial"/>
                <a:cs typeface="Arial"/>
              </a:rPr>
              <a:t>A dated calculation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04917-D968-4641-AA67-754604D3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7147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Safety stock, future commitments and usable inbound dates.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A31AD-238D-40FE-80E3-7C767365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A746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695F6-C8F6-4F25-85BE-63C7BDB0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1487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F2A"/>
                </a:solidFill>
                <a:latin typeface="Arial"/>
                <a:ea typeface="Arial"/>
                <a:cs typeface="Arial"/>
              </a:rPr>
              <a:t>A retained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691E3-A41B-4B9C-A05A-2AA08B48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14875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Exportable evidence, prior decisions and a memory audit.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94AD6-BCA4-4EB1-9CBE-28909999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45D"/>
                </a:solidFill>
                <a:latin typeface="Arial"/>
                <a:ea typeface="Arial"/>
                <a:cs typeface="Arial"/>
              </a:rPr>
              <a:t>The application rejects missing, conflicting, stale or incomplete evidence instead of issuing a supported promise.</a:t>
            </a:r>
          </a:p>
        </p:txBody>
      </p:sp>
    </p:spTree>
    <p:extLst>
      <p:ext uri="{BB962C8B-B14F-4D97-AF65-F5344CB8AC3E}">
        <p14:creationId xmlns:p14="http://schemas.microsoft.com/office/powerpoint/2010/main" val="12911346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506F4-90CA-44F0-BBBC-E6E80D60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F2A"/>
                </a:solidFill>
                <a:latin typeface="Arial"/>
                <a:ea typeface="Arial"/>
                <a:cs typeface="Arial"/>
              </a:rPr>
              <a:t>The model has a narrow, testable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2D8B2-80F7-42C1-8B7E-6043CDA7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A7462"/>
                </a:solidFill>
                <a:latin typeface="Arial"/>
                <a:ea typeface="Arial"/>
                <a:cs typeface="Arial"/>
              </a:rPr>
              <a:t>Model tasks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33FE1-408C-476A-8832-CB844E0C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8577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Order four allowed source reads.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Suggest neutral questions about displayed CSV 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Cite the original row positions.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4F4D7-2D62-488E-AFEC-D2B35FE3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A7462"/>
                </a:solidFill>
                <a:latin typeface="Arial"/>
                <a:ea typeface="Arial"/>
                <a:cs typeface="Arial"/>
              </a:rPr>
              <a:t>Application controls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A1013-5207-4FC8-B2EC-88106910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762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Validate tools, SKU and model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Compute quantities and dates in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Keep human review notes separate.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E3683-43C1-4F0B-A859-53CB4D87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45D"/>
                </a:solidFill>
                <a:latin typeface="Arial"/>
                <a:ea typeface="Arial"/>
                <a:cs typeface="Arial"/>
              </a:rPr>
              <a:t>Qwen3.5-4B through a local OpenAI-compatible endpoint. The model cannot submit arbitrary SQL or buy stock.</a:t>
            </a:r>
          </a:p>
        </p:txBody>
      </p:sp>
    </p:spTree>
    <p:extLst>
      <p:ext uri="{BB962C8B-B14F-4D97-AF65-F5344CB8AC3E}">
        <p14:creationId xmlns:p14="http://schemas.microsoft.com/office/powerpoint/2010/main" val="15854624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0702B-9A40-4C5D-8F98-5965449D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F2A"/>
                </a:solidFill>
                <a:latin typeface="Arial"/>
                <a:ea typeface="Arial"/>
                <a:cs typeface="Arial"/>
              </a:rPr>
              <a:t>Sponsor components in the working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FC12F-D04A-40D8-9B08-4746102B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A7462"/>
                </a:solidFill>
                <a:latin typeface="Arial"/>
                <a:ea typeface="Arial"/>
                <a:cs typeface="Arial"/>
              </a:rPr>
              <a:t>Zetaris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9A2D8-9B41-4BC9-A164-1177C34C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09750"/>
            <a:ext cx="762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Four original CSV sources queried through the running official platform. Pagination and cursor closure verified.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C6689-12E3-4769-94F5-43DA74C3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A7462"/>
                </a:solidFill>
                <a:latin typeface="Arial"/>
                <a:ea typeface="Arial"/>
                <a:cs typeface="Arial"/>
              </a:rPr>
              <a:t>Meterless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A7494-A520-4B57-9CBA-E8ACE3E6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762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Run the pinned H-MEM reference engine to remember a decision, recall prior runs and inspect its ledger.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0C536-1459-4BB0-825A-BB615077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A7462"/>
                </a:solidFill>
                <a:latin typeface="Arial"/>
                <a:ea typeface="Arial"/>
                <a:cs typeface="Arial"/>
              </a:rPr>
              <a:t>NVIDIA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05574-2007-424D-8A9F-F2307632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5775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RTX 4060 Laptop GPU accelerates local Qwen inference through Vulkan.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249DD-FEC1-46B4-A96D-27468473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45D"/>
                </a:solidFill>
                <a:latin typeface="Arial"/>
                <a:ea typeface="Arial"/>
                <a:cs typeface="Arial"/>
              </a:rPr>
              <a:t>Live platform execution uses synthetic fixtures. Sponsor acceptance remains the organizer’s decision.</a:t>
            </a:r>
          </a:p>
        </p:txBody>
      </p:sp>
    </p:spTree>
    <p:extLst>
      <p:ext uri="{BB962C8B-B14F-4D97-AF65-F5344CB8AC3E}">
        <p14:creationId xmlns:p14="http://schemas.microsoft.com/office/powerpoint/2010/main" val="18163944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0AC08-1D46-4A0A-98C8-E29C86605910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686800" y="24765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A7462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783717-0CE8-4614-9AE5-68874B86779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867400" y="24765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A7462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D26D15-3ACD-4146-8525-8D9F06E8EC4E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48000" y="24765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A7462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6F3A9C-6E43-4FE8-993F-B23BE703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F2A"/>
                </a:solidFill>
                <a:latin typeface="Arial"/>
                <a:ea typeface="Arial"/>
                <a:cs typeface="Arial"/>
              </a:rPr>
              <a:t>Architecture and technical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BA2AD-228E-4811-BADA-EBE8CDCA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362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93436-A92F-41A8-8B31-4B7B46A4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0002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A7462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A5597-6300-4B06-9FC3-3327799C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71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Bilingual HTML / JS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2AAE9-9411-4E85-BF8F-829D6442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09750"/>
            <a:ext cx="2362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C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BB49C-1450-4695-B9B8-8F01DCC2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0002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A7462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AB39D-58EE-4911-B4A6-A9562062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571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Pydantic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8F3CC-7A46-4AA7-A2C4-07ED212C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2362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C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DE546-AB81-41FF-B8EC-E17F9BCE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0002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A7462"/>
                </a:solidFill>
                <a:latin typeface="Arial"/>
                <a:ea typeface="Arial"/>
                <a:cs typeface="Arial"/>
              </a:rPr>
              <a:t>Model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33E610-D594-4416-895C-847E726E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571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Qwen / HTTPX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506B5-2273-4282-99CB-F5F7A0FE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2362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C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8E361E-20FC-47F6-A408-91CE397E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002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A7462"/>
                </a:solidFill>
                <a:latin typeface="Arial"/>
                <a:ea typeface="Arial"/>
                <a:cs typeface="Arial"/>
              </a:rPr>
              <a:t>Zetaris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23C53-61C0-406C-BC72-AD29432E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71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Four approved reads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CEAE0-DD9A-4C7A-93E4-C97568A4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F2A"/>
                </a:solidFill>
                <a:latin typeface="Arial"/>
                <a:ea typeface="Arial"/>
                <a:cs typeface="Arial"/>
              </a:rPr>
              <a:t>Validated records → deterministic verifier → cited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B23799-BC67-4B37-A776-D1760AEB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A746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A746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A746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A746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A746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A746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A746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A746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A746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A74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A746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A7462"/>
                </a:solidFill>
                <a:latin typeface="Arial"/>
                <a:ea typeface="Arial"/>
                <a:cs typeface="Arial"/>
              </a:rPr>
              <a:t>Meterless H-MEM / Node</a:t>
            </a:r>
          </a:p>
          <a:p xmlns:a="http://schemas.openxmlformats.org/drawingml/2006/main">
            <a:pPr>
              <a:defRPr sz="2025" b="0">
                <a:solidFill>
                  <a:srgbClr val="2A746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A7462"/>
                </a:solidFill>
                <a:latin typeface="Arial"/>
                <a:ea typeface="Arial"/>
                <a:cs typeface="Arial"/>
              </a:rPr>
              <a:t>Retained decisions and recall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63BCD7-6D32-46D1-B2E8-E8A6AF6F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490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A746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A746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A746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A746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A746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A746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A746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A746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A746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A74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A746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A7462"/>
                </a:solidFill>
                <a:latin typeface="Arial"/>
                <a:ea typeface="Arial"/>
                <a:cs typeface="Arial"/>
              </a:rPr>
              <a:t>SQLite + DuckDB / Arrow</a:t>
            </a:r>
          </a:p>
          <a:p xmlns:a="http://schemas.openxmlformats.org/drawingml/2006/main">
            <a:pPr>
              <a:defRPr sz="2025" b="0">
                <a:solidFill>
                  <a:srgbClr val="2A746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A7462"/>
                </a:solidFill>
                <a:latin typeface="Arial"/>
                <a:ea typeface="Arial"/>
                <a:cs typeface="Arial"/>
              </a:rPr>
              <a:t>Originals, review history and CSV analysis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ED8CBA-22F1-4EE7-9DED-779846D9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45D"/>
                </a:solidFill>
                <a:latin typeface="Arial"/>
                <a:ea typeface="Arial"/>
                <a:cs typeface="Arial"/>
              </a:rPr>
              <a:t>One local Python worker. No cross-source transaction; every read has its own retrieval time.</a:t>
            </a:r>
          </a:p>
        </p:txBody>
      </p:sp>
    </p:spTree>
    <p:extLst>
      <p:ext uri="{BB962C8B-B14F-4D97-AF65-F5344CB8AC3E}">
        <p14:creationId xmlns:p14="http://schemas.microsoft.com/office/powerpoint/2010/main" val="4861039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00A7D-6011-477E-B2F9-D829F767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F2A"/>
                </a:solidFill>
                <a:latin typeface="Arial"/>
                <a:ea typeface="Arial"/>
                <a:cs typeface="Arial"/>
              </a:rPr>
              <a:t>Inspect the result in the product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63757-A116-43C3-BA5C-13CCD65979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99783fbab4d4a"/>
          <a:stretch xmlns:a="http://schemas.openxmlformats.org/drawingml/2006/main"/>
        </p:blipFill>
        <p:spPr>
          <a:xfrm xmlns:a="http://schemas.openxmlformats.org/drawingml/2006/main">
            <a:off x="2347568" y="1524000"/>
            <a:ext cx="7496863" cy="4381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EE5B4-E8F2-4D9D-8F39-E2DF10CC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45D"/>
                </a:solidFill>
                <a:latin typeface="Arial"/>
                <a:ea typeface="Arial"/>
                <a:cs typeface="Arial"/>
              </a:rPr>
              <a:t>Sources, date calculation and decision history stay visible for review. Demo records are synthetic.</a:t>
            </a:r>
          </a:p>
        </p:txBody>
      </p:sp>
    </p:spTree>
    <p:extLst>
      <p:ext uri="{BB962C8B-B14F-4D97-AF65-F5344CB8AC3E}">
        <p14:creationId xmlns:p14="http://schemas.microsoft.com/office/powerpoint/2010/main" val="63410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9AE0C-EF25-4654-89C3-06C2BAEB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F2A"/>
                </a:solidFill>
                <a:latin typeface="Arial"/>
                <a:ea typeface="Arial"/>
                <a:cs typeface="Arial"/>
              </a:rPr>
              <a:t>Measured local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526A8-E9E1-448F-9433-71F31D82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90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1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defPPr>
            <a:lvl1pPr>
              <a:defRPr sz="51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1pPr>
            <a:lvl2pPr>
              <a:defRPr sz="51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2pPr>
            <a:lvl3pPr>
              <a:defRPr sz="51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3pPr>
            <a:lvl4pPr>
              <a:defRPr sz="51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4pPr>
            <a:lvl5pPr>
              <a:defRPr sz="51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5pPr>
            <a:lvl6pPr>
              <a:defRPr sz="51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6pPr>
            <a:lvl7pPr>
              <a:defRPr sz="51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7pPr>
            <a:lvl8pPr>
              <a:defRPr sz="51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8pPr>
            <a:lvl9pPr>
              <a:defRPr sz="51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2A7462"/>
                </a:solidFill>
                <a:latin typeface="Arial"/>
                <a:ea typeface="Arial"/>
                <a:cs typeface="Arial"/>
              </a:rPr>
              <a:t>500,000 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F2B7B-83AC-479B-AAD9-2107D366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5334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25.5 s import</a:t>
            </a:r>
          </a:p>
          <a:p xmlns:a="http://schemas.openxmlformats.org/drawingml/2006/main">
            <a:pPr>
              <a:defRPr sz="27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92.1 s analysis</a:t>
            </a:r>
          </a:p>
          <a:p xmlns:a="http://schemas.openxmlformats.org/drawingml/2006/main">
            <a:pPr>
              <a:defRPr sz="2700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55.2 s first export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45CF4-4D36-45DF-90CB-0B8582AE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57375"/>
            <a:ext cx="404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F2A"/>
                </a:solidFill>
                <a:latin typeface="Arial"/>
                <a:ea typeface="Arial"/>
                <a:cs typeface="Arial"/>
              </a:rPr>
              <a:t>Source integrity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0574A-0287-48B2-AF0F-6F88B5C0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67000"/>
            <a:ext cx="40481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Exported original SHA-256 matched the input.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A killed parse recovered all 150,000 rows after restart.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87885-F9CF-4836-B9C4-9231DEA4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45D"/>
                </a:solidFill>
                <a:latin typeface="Arial"/>
                <a:ea typeface="Arial"/>
                <a:cs typeface="Arial"/>
              </a:rPr>
              <a:t>Windows, one worker, shared 16 GB host. One retained run per scale case. No production throughput claim.</a:t>
            </a:r>
          </a:p>
        </p:txBody>
      </p:sp>
    </p:spTree>
    <p:extLst>
      <p:ext uri="{BB962C8B-B14F-4D97-AF65-F5344CB8AC3E}">
        <p14:creationId xmlns:p14="http://schemas.microsoft.com/office/powerpoint/2010/main" val="13644873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0C5F5-0109-4508-BA2F-A5EE0C36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F2A"/>
                </a:solidFill>
                <a:latin typeface="Arial"/>
                <a:ea typeface="Arial"/>
                <a:cs typeface="Arial"/>
              </a:rPr>
              <a:t>The next test is with operators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97146-ECA8-4A94-A6A7-D74D6B16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A7462"/>
                </a:solidFill>
                <a:latin typeface="Arial"/>
                <a:ea typeface="Arial"/>
                <a:cs typeface="Arial"/>
              </a:rPr>
              <a:t>Pilot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07397-1378-4E2C-BFE6-5D4737AD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27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27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27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27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27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27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27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27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27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Can an operator explain and verify a proposed delivery date using the evidence without reconstructing the calculation?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EEDCD-C53A-4FC4-8C73-41AB0599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F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2A"/>
                </a:solidFill>
                <a:latin typeface="Arial"/>
                <a:ea typeface="Arial"/>
                <a:cs typeface="Arial"/>
              </a:rPr>
              <a:t>Measure review accuracy and elapsed time on real, permissioned records. Expand integrations after the pilot.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FC2D1-EA08-475D-B88F-1DFE85FC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A746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A7462"/>
                </a:solidFill>
                <a:latin typeface="Arial"/>
                <a:ea typeface="Arial"/>
                <a:cs typeface="Arial"/>
              </a:rPr>
              <a:t>github.com/Kuang-xianxin/supplytrace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58EA9-9904-4D4D-A3D3-27FD4BED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45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45D"/>
                </a:solidFill>
                <a:latin typeface="Arial"/>
                <a:ea typeface="Arial"/>
                <a:cs typeface="Arial"/>
              </a:rPr>
              <a:t>Current scope: one local workspace. No customer savings or business outcome has been measured.</a:t>
            </a:r>
          </a:p>
        </p:txBody>
      </p:sp>
    </p:spTree>
    <p:extLst>
      <p:ext uri="{BB962C8B-B14F-4D97-AF65-F5344CB8AC3E}">
        <p14:creationId xmlns:p14="http://schemas.microsoft.com/office/powerpoint/2010/main" val="15633093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2026-10-27T13:57:56.3070000Z</dcterms:created>
  <dcterms:modified xsi:type="dcterms:W3CDTF">2026-10-27T13:57:56.3070000Z</dcterms:modified>
</coreProperties>
</file>